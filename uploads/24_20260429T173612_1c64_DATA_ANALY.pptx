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7C54-09E1-1823-3D68-327227A46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CB395-73D5-B2D6-127E-1177B178F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010B-62D9-5B3A-F27E-0928B8FE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619AA-7A42-3156-2B71-63D87571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C5433-387C-D67C-991A-3B1AD406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71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5734-7874-A66B-7D08-4A091935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4D97-886F-361F-C0F0-C1BFC00E5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F86F7-A5CC-B91C-A081-2125E13E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6A098-F4FC-1032-1080-21F69A67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71957-BD44-3D64-FBFC-7786ECFF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5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C28C-0511-E2DA-7764-0DCAD250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9C92-7DED-ED1D-49B4-3CACD73F2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DB30F-3CBF-34D6-4928-F4891DB9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85217-56D1-0106-6EB6-CAF23D2A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472AE-0DC8-4FB0-7062-BE7DA0E2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40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CB3D-C7CF-E5A8-2455-FE7CA787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A8806-F961-83D1-0940-1F3A7FF36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4E2A9-D558-255B-6D4F-BBE67A23E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4C6F0-84AA-DDEE-49FD-7C0CBBB08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91CBB-5783-19D2-13A3-70A34439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2350D-186E-FEFB-78ED-68C119CD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80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8257-B55E-D572-AAE9-C312B007E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682C1-655C-9070-90BC-4FBBBE58D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9DB8E-32DC-5F49-16BB-61E2E1749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80090-30B2-1D92-CFE1-717ACC896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DFB5A-DE34-4F43-BFE6-DCD54484C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20BE6-D1D8-892D-93B3-2CB03B41F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4EB1D2-E6A1-79FA-7527-13039575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B6AF7-159B-51EA-0270-35F24CFF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7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B9B3E-A9D3-929E-0615-CF044CC7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99EAA-4BC3-FF24-1382-3805AF35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D9AB2-CEC3-F14A-C119-042AB951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916C-B1B5-4002-3C4B-7B003C3E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931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75C04-E518-6568-34C7-956DDB004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8DEFB6-7313-65F5-D9D7-18ECCCD1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2118F-4D0B-3365-6641-76C22BC9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52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438A-60C8-D9B1-9F42-3197A008E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7C912-A914-2D6A-EB21-66059BD27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CDDE3-9F48-6120-ED02-DA5FD89AB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5E003-32AC-68CE-29F7-41D98BD8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B2B32-F5E2-3261-EEEC-4B725803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192D2-09C7-5864-9F26-B5D0A379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15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B221-0305-8A17-CDD8-BE10785D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1A0E1-DFE2-03EF-8BD1-9EF5821AF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AD236-2B4A-779C-0300-0743806B0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F7BAF-BC8E-74EE-7BF4-3798C5A5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C3ED6-2C2A-FD64-831C-30D0CD12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EF97D-4214-97CD-B6AB-42A28EF88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59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E0039-DEC9-17D4-3F3F-8467C945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36275-B0F0-85F1-716B-55171B1B4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7942F-C0CE-5899-78CD-746AA08EE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4C1BF-B08E-2A1D-AF00-E6FE6CA81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0EED7-F657-438B-FF3C-08C99764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56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A4FB35-9E62-14DA-04C9-62C3ACB91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24911-F5C0-D0D2-588B-01C7DEC13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3D080-9955-AEB7-8759-05D1B258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D7DE-A09A-7369-B47E-4D8F49E8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95F16-A224-7A1B-7287-3CD70BD1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11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C1C66-E760-B26A-CCF2-B7A4DF24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3579B-D4DC-7024-3D2E-A90D463AA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1B1F5-5B46-07F1-46AA-D6AF0BF92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F621C-191D-4A99-BDEB-7480D232742A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D69A9-C70F-E2DD-7729-22F368168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26B34-473D-0EB6-1D50-41E915B8D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84E24-FE45-4E07-8156-9F60C5387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6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D9F7-B38A-8983-0535-A13E15A4E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374373"/>
            <a:ext cx="8825658" cy="3329581"/>
          </a:xfrm>
        </p:spPr>
        <p:txBody>
          <a:bodyPr/>
          <a:lstStyle/>
          <a:p>
            <a:r>
              <a:rPr lang="en-US" sz="5400" dirty="0"/>
              <a:t>type:-</a:t>
            </a:r>
            <a:br>
              <a:rPr lang="en-US" sz="5400" dirty="0"/>
            </a:br>
            <a:r>
              <a:rPr lang="en-US" sz="5400" b="1" dirty="0"/>
              <a:t>Data Analysis &amp; Visualization with AI</a:t>
            </a:r>
            <a:endParaRPr lang="en-IN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8B94D6-24AC-6619-89F6-57CA5CE45AC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43798" y="3731051"/>
            <a:ext cx="6317755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Name </a:t>
            </a:r>
            <a:r>
              <a:rPr lang="en-US" altLang="en-US" sz="2800" cap="none" dirty="0">
                <a:solidFill>
                  <a:schemeClr val="tx1"/>
                </a:solidFill>
                <a:latin typeface="Arial" panose="020B0604020202020204" pitchFamily="34" charset="0"/>
              </a:rPr>
              <a:t>:- Sonkusare DEEP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:-25-04-2026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Company name :- AI CORE SYSTEM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11E2FA-94C4-FBBD-FC8E-09258C2AB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417"/>
            <a:ext cx="5457765" cy="138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345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75873-ADC2-335E-FA36-9804694C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71" y="2152309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1: </a:t>
            </a:r>
            <a:r>
              <a:rPr lang="en-IN" sz="3600" b="1" dirty="0"/>
              <a:t>Introduction:-</a:t>
            </a:r>
            <a:br>
              <a:rPr lang="en-IN" sz="3600" b="1" dirty="0"/>
            </a:br>
            <a:r>
              <a:rPr lang="en-IN" sz="3600" dirty="0"/>
              <a:t>What is AI in Data Analysis?</a:t>
            </a:r>
            <a:br>
              <a:rPr lang="en-IN" sz="3600" dirty="0"/>
            </a:br>
            <a:r>
              <a:rPr lang="en-IN" sz="3600" dirty="0"/>
              <a:t>AI = Systems that learn patterns from data </a:t>
            </a:r>
            <a:br>
              <a:rPr lang="en-IN" sz="3600" dirty="0"/>
            </a:br>
            <a:r>
              <a:rPr lang="en-IN" sz="3600" dirty="0"/>
              <a:t>Used to: </a:t>
            </a:r>
            <a:br>
              <a:rPr lang="en-IN" sz="3600" dirty="0"/>
            </a:br>
            <a:r>
              <a:rPr lang="en-IN" sz="3600" dirty="0" err="1"/>
              <a:t>Analyze</a:t>
            </a:r>
            <a:r>
              <a:rPr lang="en-IN" sz="3600" dirty="0"/>
              <a:t> large datasets </a:t>
            </a:r>
            <a:br>
              <a:rPr lang="en-IN" sz="3600" dirty="0"/>
            </a:br>
            <a:r>
              <a:rPr lang="en-IN" sz="3600" dirty="0"/>
              <a:t>Predict trends </a:t>
            </a:r>
            <a:br>
              <a:rPr lang="en-IN" sz="3600" dirty="0"/>
            </a:br>
            <a:r>
              <a:rPr lang="en-IN" sz="3600" dirty="0"/>
              <a:t>Automate insights </a:t>
            </a:r>
            <a:br>
              <a:rPr lang="en-IN" sz="3600" dirty="0"/>
            </a:br>
            <a:r>
              <a:rPr lang="en-IN" sz="3600" dirty="0"/>
              <a:t>Traditional vs AI: </a:t>
            </a:r>
            <a:br>
              <a:rPr lang="en-IN" sz="3600" dirty="0"/>
            </a:br>
            <a:r>
              <a:rPr lang="en-IN" sz="3600" dirty="0"/>
              <a:t>Manual analysis </a:t>
            </a:r>
            <a:br>
              <a:rPr lang="en-IN" sz="3600" dirty="0"/>
            </a:br>
            <a:r>
              <a:rPr lang="en-IN" sz="3600" dirty="0"/>
              <a:t>Automated intelligent analysis ✅</a:t>
            </a:r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0602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2F64-E7D7-8A3D-9E61-D46D30B8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252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2: What is Data Analysis?</a:t>
            </a:r>
            <a:br>
              <a:rPr lang="en-US" b="1" dirty="0"/>
            </a:br>
            <a:r>
              <a:rPr lang="en-US" dirty="0"/>
              <a:t>Process of extracting useful information from data </a:t>
            </a:r>
            <a:br>
              <a:rPr lang="en-US" dirty="0"/>
            </a:br>
            <a:r>
              <a:rPr lang="en-US" dirty="0"/>
              <a:t>Types: </a:t>
            </a:r>
            <a:br>
              <a:rPr lang="en-US" dirty="0"/>
            </a:br>
            <a:r>
              <a:rPr lang="en-US" dirty="0"/>
              <a:t>Descriptive → What happened? </a:t>
            </a:r>
            <a:br>
              <a:rPr lang="en-US" dirty="0"/>
            </a:br>
            <a:r>
              <a:rPr lang="en-US" dirty="0"/>
              <a:t>Diagnostic → Why happened? </a:t>
            </a:r>
            <a:br>
              <a:rPr lang="en-US" dirty="0"/>
            </a:br>
            <a:r>
              <a:rPr lang="en-US" dirty="0"/>
              <a:t>Predictive → What will happen? </a:t>
            </a:r>
            <a:br>
              <a:rPr lang="en-US" dirty="0"/>
            </a:br>
            <a:r>
              <a:rPr lang="en-US" dirty="0"/>
              <a:t>Prescriptive → What should we do?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43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C411-17BE-64E3-3534-56FC2663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10" y="2957291"/>
            <a:ext cx="9556211" cy="12623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3: Data Visualization</a:t>
            </a:r>
            <a:br>
              <a:rPr lang="en-US" b="1" dirty="0"/>
            </a:br>
            <a:r>
              <a:rPr lang="en-US" dirty="0"/>
              <a:t>Presenting data in visual format: </a:t>
            </a:r>
            <a:br>
              <a:rPr lang="en-US" dirty="0"/>
            </a:br>
            <a:r>
              <a:rPr lang="en-US" dirty="0"/>
              <a:t>Charts </a:t>
            </a:r>
            <a:br>
              <a:rPr lang="en-US" dirty="0"/>
            </a:br>
            <a:r>
              <a:rPr lang="en-US" dirty="0"/>
              <a:t>Graphs </a:t>
            </a:r>
            <a:br>
              <a:rPr lang="en-US" dirty="0"/>
            </a:br>
            <a:r>
              <a:rPr lang="en-US" dirty="0"/>
              <a:t>Dashboards </a:t>
            </a:r>
            <a:br>
              <a:rPr lang="en-US" dirty="0"/>
            </a:br>
            <a:r>
              <a:rPr lang="en-US" b="1" dirty="0"/>
              <a:t>Why important?</a:t>
            </a:r>
            <a:br>
              <a:rPr lang="en-US" dirty="0"/>
            </a:br>
            <a:r>
              <a:rPr lang="en-US" dirty="0"/>
              <a:t>Easy understanding </a:t>
            </a:r>
            <a:br>
              <a:rPr lang="en-US" dirty="0"/>
            </a:br>
            <a:r>
              <a:rPr lang="en-US" dirty="0"/>
              <a:t>Better decision-making </a:t>
            </a:r>
            <a:br>
              <a:rPr lang="en-US" dirty="0"/>
            </a:br>
            <a:r>
              <a:rPr lang="en-US" dirty="0"/>
              <a:t>Pattern recognition</a:t>
            </a:r>
            <a:br>
              <a:rPr lang="en-US" dirty="0"/>
            </a:br>
            <a:endParaRPr lang="en-IN" dirty="0"/>
          </a:p>
        </p:txBody>
      </p:sp>
      <p:pic>
        <p:nvPicPr>
          <p:cNvPr id="2050" name="Picture 2" descr="Line chart options  |  Looker  |  Google Cloud Documentation">
            <a:extLst>
              <a:ext uri="{FF2B5EF4-FFF2-40B4-BE49-F238E27FC236}">
                <a16:creationId xmlns:a16="http://schemas.microsoft.com/office/drawing/2014/main" id="{D5AA9051-51DD-A93B-500C-8205B954F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1" y="2012714"/>
            <a:ext cx="4660300" cy="204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Comprehensive Guide on Data Visualization in Python">
            <a:extLst>
              <a:ext uri="{FF2B5EF4-FFF2-40B4-BE49-F238E27FC236}">
                <a16:creationId xmlns:a16="http://schemas.microsoft.com/office/drawing/2014/main" id="{E4D7996D-F21A-6DF0-2518-864901DF2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1" y="4219642"/>
            <a:ext cx="4660674" cy="230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60FE-7E86-34E2-CD4C-DC5C54C7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51" y="2728735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Slide 4: Where AI is Used in Data Analysis?</a:t>
            </a:r>
            <a:br>
              <a:rPr lang="en-US" sz="4000" b="1" dirty="0"/>
            </a:br>
            <a:r>
              <a:rPr lang="en-US" sz="4000" dirty="0"/>
              <a:t>Auto data cleaning </a:t>
            </a:r>
            <a:br>
              <a:rPr lang="en-US" sz="4000" dirty="0"/>
            </a:br>
            <a:r>
              <a:rPr lang="en-US" sz="4000" dirty="0"/>
              <a:t>Pattern detection </a:t>
            </a:r>
            <a:br>
              <a:rPr lang="en-US" sz="4000" dirty="0"/>
            </a:br>
            <a:r>
              <a:rPr lang="en-US" sz="4000" dirty="0"/>
              <a:t>Forecasting </a:t>
            </a:r>
            <a:br>
              <a:rPr lang="en-US" sz="4000" dirty="0"/>
            </a:br>
            <a:r>
              <a:rPr lang="en-US" sz="4000" dirty="0"/>
              <a:t>Anomaly detection </a:t>
            </a:r>
            <a:br>
              <a:rPr lang="en-US" sz="4000" dirty="0"/>
            </a:br>
            <a:r>
              <a:rPr lang="en-US" sz="4000" dirty="0"/>
              <a:t>Natural Language Queries </a:t>
            </a:r>
            <a:br>
              <a:rPr lang="en-US" sz="4000" dirty="0"/>
            </a:br>
            <a:r>
              <a:rPr lang="en-US" sz="4000" dirty="0"/>
              <a:t>👉 Example:</a:t>
            </a:r>
            <a:br>
              <a:rPr lang="en-US" sz="4000" dirty="0"/>
            </a:br>
            <a:r>
              <a:rPr lang="en-US" sz="4000" dirty="0"/>
              <a:t>“Show sales growth of last 5 years” → AI generates graph instantly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079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171CA-642F-0FE6-0CE1-792E5887E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20" y="2569752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Slide 5: Popular AI Tools for Data Analysis</a:t>
            </a:r>
            <a:br>
              <a:rPr lang="en-IN" b="1" dirty="0"/>
            </a:br>
            <a:r>
              <a:rPr lang="en-IN" dirty="0"/>
              <a:t>Python (Pandas, NumPy) </a:t>
            </a:r>
            <a:br>
              <a:rPr lang="en-IN" dirty="0"/>
            </a:br>
            <a:r>
              <a:rPr lang="en-IN" dirty="0"/>
              <a:t>Power BI + AI features </a:t>
            </a:r>
            <a:br>
              <a:rPr lang="en-IN" dirty="0"/>
            </a:br>
            <a:r>
              <a:rPr lang="en-IN" dirty="0"/>
              <a:t>Tableau + AI insights </a:t>
            </a:r>
            <a:br>
              <a:rPr lang="en-IN" dirty="0"/>
            </a:br>
            <a:r>
              <a:rPr lang="en-IN" dirty="0"/>
              <a:t>Excel AI tools </a:t>
            </a:r>
            <a:br>
              <a:rPr lang="en-IN" dirty="0"/>
            </a:br>
            <a:r>
              <a:rPr lang="en-IN" dirty="0"/>
              <a:t>Google </a:t>
            </a:r>
            <a:r>
              <a:rPr lang="en-IN" dirty="0" err="1"/>
              <a:t>AutoML</a:t>
            </a: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ChatGPT (for analysis &amp; code)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30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D8A15-67CE-3354-2490-3936EB42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18" y="2822713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Slide 6: Tool Demonstration (Important for you)</a:t>
            </a:r>
            <a:br>
              <a:rPr lang="en-IN" sz="3600" b="1" dirty="0"/>
            </a:br>
            <a:r>
              <a:rPr lang="en-IN" sz="3600" b="1" dirty="0"/>
              <a:t>Example: Using AI (ChatGPT)</a:t>
            </a:r>
            <a:br>
              <a:rPr lang="en-IN" sz="3600" b="1" dirty="0"/>
            </a:br>
            <a:r>
              <a:rPr lang="en-IN" sz="3600" b="1" dirty="0"/>
              <a:t>Prompt:</a:t>
            </a:r>
            <a:br>
              <a:rPr lang="en-IN" sz="3600" dirty="0"/>
            </a:br>
            <a:r>
              <a:rPr lang="en-IN" sz="3600" dirty="0"/>
              <a:t>“</a:t>
            </a:r>
            <a:r>
              <a:rPr lang="en-IN" sz="3600" dirty="0" err="1"/>
              <a:t>Analyze</a:t>
            </a:r>
            <a:r>
              <a:rPr lang="en-IN" sz="3600" dirty="0"/>
              <a:t> this dataset and create a sales trend graph”</a:t>
            </a:r>
            <a:br>
              <a:rPr lang="en-IN" sz="3600" dirty="0"/>
            </a:br>
            <a:r>
              <a:rPr lang="en-IN" sz="3600" b="1" dirty="0"/>
              <a:t>Output:</a:t>
            </a:r>
            <a:br>
              <a:rPr lang="en-IN" sz="3600" dirty="0"/>
            </a:br>
            <a:r>
              <a:rPr lang="en-IN" sz="3600" dirty="0"/>
              <a:t>Python code generated </a:t>
            </a:r>
            <a:br>
              <a:rPr lang="en-IN" sz="3600" dirty="0"/>
            </a:br>
            <a:r>
              <a:rPr lang="en-IN" sz="3600" dirty="0"/>
              <a:t>Graph visualization </a:t>
            </a:r>
            <a:br>
              <a:rPr lang="en-IN" sz="3600" dirty="0"/>
            </a:br>
            <a:r>
              <a:rPr lang="en-IN" sz="3600" dirty="0"/>
              <a:t>Insights automatically </a:t>
            </a:r>
            <a:br>
              <a:rPr lang="en-IN" sz="3600" dirty="0"/>
            </a:br>
            <a:r>
              <a:rPr lang="en-IN" dirty="0"/>
              <a:t>👉 You can DEMO:</a:t>
            </a:r>
            <a:br>
              <a:rPr lang="en-IN" dirty="0"/>
            </a:br>
            <a:r>
              <a:rPr lang="en-IN" dirty="0"/>
              <a:t>Upload CSV </a:t>
            </a:r>
            <a:br>
              <a:rPr lang="en-IN" dirty="0"/>
            </a:br>
            <a:r>
              <a:rPr lang="en-IN" dirty="0"/>
              <a:t>Ask AI → get chart + explanation</a:t>
            </a:r>
            <a:br>
              <a:rPr lang="en-IN" dirty="0"/>
            </a:br>
            <a:endParaRPr lang="en-IN" dirty="0"/>
          </a:p>
        </p:txBody>
      </p:sp>
      <p:pic>
        <p:nvPicPr>
          <p:cNvPr id="3074" name="Picture 2" descr="ChatGPT for Advanced Data Analysis in Python notebook">
            <a:extLst>
              <a:ext uri="{FF2B5EF4-FFF2-40B4-BE49-F238E27FC236}">
                <a16:creationId xmlns:a16="http://schemas.microsoft.com/office/drawing/2014/main" id="{1E873766-8FF0-62AD-3C0B-14A8156A3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594" y="2941982"/>
            <a:ext cx="3491695" cy="333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389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7CB8-5A5B-FEBA-82A1-4AE8F015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55" y="2241762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Slide 7: What is Prompt Engineering?</a:t>
            </a:r>
            <a:br>
              <a:rPr lang="en-US" sz="4000" b="1" dirty="0"/>
            </a:br>
            <a:r>
              <a:rPr lang="en-US" sz="4000" b="1" dirty="0"/>
              <a:t>🧠 Definition</a:t>
            </a:r>
            <a:br>
              <a:rPr lang="en-US" sz="4000" b="1" dirty="0"/>
            </a:br>
            <a:r>
              <a:rPr lang="en-US" sz="4000" dirty="0"/>
              <a:t>Designing input (prompt) to get accurate &amp; meaningful AI output </a:t>
            </a:r>
            <a:br>
              <a:rPr lang="en-US" sz="4000" dirty="0"/>
            </a:br>
            <a:r>
              <a:rPr lang="en-US" sz="4000" dirty="0"/>
              <a:t>AI works better with clear and structured instructions </a:t>
            </a:r>
            <a:br>
              <a:rPr lang="en-US" sz="4000" dirty="0"/>
            </a:br>
            <a:r>
              <a:rPr lang="en-US" sz="4000" dirty="0"/>
              <a:t>Quality of output depends on quality of prompt </a:t>
            </a:r>
            <a:br>
              <a:rPr lang="en-US" sz="4000" dirty="0"/>
            </a:br>
            <a:endParaRPr lang="en-IN" sz="4000" dirty="0"/>
          </a:p>
        </p:txBody>
      </p:sp>
      <p:pic>
        <p:nvPicPr>
          <p:cNvPr id="4098" name="Picture 2" descr="Expert’s Guide: Generative AI Prompts for Maximum Efficiency">
            <a:extLst>
              <a:ext uri="{FF2B5EF4-FFF2-40B4-BE49-F238E27FC236}">
                <a16:creationId xmlns:a16="http://schemas.microsoft.com/office/drawing/2014/main" id="{3F192341-3D91-5071-748D-FD44596DC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481" y="4488182"/>
            <a:ext cx="4290431" cy="203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78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A3368-E6C1-56BF-01A3-E80104E76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31353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Slide 8: Types of Prompts</a:t>
            </a:r>
            <a:br>
              <a:rPr lang="en-US" sz="3200" b="1" dirty="0"/>
            </a:br>
            <a:r>
              <a:rPr lang="en-US" sz="3200" dirty="0"/>
              <a:t>Zero-shot → No example </a:t>
            </a:r>
            <a:br>
              <a:rPr lang="en-US" sz="3200" dirty="0"/>
            </a:br>
            <a:r>
              <a:rPr lang="en-US" sz="3200" dirty="0"/>
              <a:t>Few-shot → With examples </a:t>
            </a:r>
            <a:br>
              <a:rPr lang="en-US" sz="3200" dirty="0"/>
            </a:br>
            <a:r>
              <a:rPr lang="en-US" sz="3200" dirty="0"/>
              <a:t>Chain-of-thought → Step-by-step reasoning </a:t>
            </a:r>
            <a:br>
              <a:rPr lang="en-US" sz="3200" dirty="0"/>
            </a:br>
            <a:r>
              <a:rPr lang="en-US" sz="3200" b="1" dirty="0"/>
              <a:t>Chain-of-Thought Prompting</a:t>
            </a:r>
            <a:br>
              <a:rPr lang="en-US" sz="3200" b="1" dirty="0"/>
            </a:br>
            <a:r>
              <a:rPr lang="en-US" sz="3200" dirty="0"/>
              <a:t>Step-by-step reasoning </a:t>
            </a:r>
            <a:br>
              <a:rPr lang="en-US" sz="3200" dirty="0"/>
            </a:br>
            <a:r>
              <a:rPr lang="en-US" sz="3200" dirty="0"/>
              <a:t>Best for complex problems </a:t>
            </a:r>
            <a:br>
              <a:rPr lang="en-US" sz="3200" dirty="0"/>
            </a:br>
            <a:r>
              <a:rPr lang="en-US" sz="3200" dirty="0"/>
              <a:t>Improves accuracy &amp; logic</a:t>
            </a:r>
            <a:br>
              <a:rPr lang="en-US" sz="3200" dirty="0"/>
            </a:br>
            <a:r>
              <a:rPr lang="en-US" sz="3200" dirty="0"/>
              <a:t>Prompting controls AI behavior </a:t>
            </a:r>
            <a:br>
              <a:rPr lang="en-US" sz="3200" dirty="0"/>
            </a:br>
            <a:r>
              <a:rPr lang="en-US" sz="3200" dirty="0"/>
              <a:t>More context = better results </a:t>
            </a:r>
            <a:br>
              <a:rPr lang="en-US" sz="3200" dirty="0"/>
            </a:br>
            <a:r>
              <a:rPr lang="en-US" sz="3200" dirty="0"/>
              <a:t>Used in real AI systems &amp; chatbots </a:t>
            </a:r>
            <a:br>
              <a:rPr lang="en-US" sz="3200" dirty="0"/>
            </a:br>
            <a:r>
              <a:rPr lang="en-US" sz="3200" dirty="0"/>
              <a:t>Important skill for data scientists </a:t>
            </a:r>
            <a:br>
              <a:rPr lang="en-US" sz="3600" dirty="0"/>
            </a:br>
            <a:endParaRPr lang="en-IN" sz="3600" dirty="0"/>
          </a:p>
        </p:txBody>
      </p:sp>
      <p:pic>
        <p:nvPicPr>
          <p:cNvPr id="6146" name="Picture 2" descr="Prompt Engineering">
            <a:extLst>
              <a:ext uri="{FF2B5EF4-FFF2-40B4-BE49-F238E27FC236}">
                <a16:creationId xmlns:a16="http://schemas.microsoft.com/office/drawing/2014/main" id="{5F7C70E9-CD81-D87E-9AA1-9EEA7D315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4671" y="1200477"/>
            <a:ext cx="2790824" cy="267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hain-of-Thought Prompting and Few-Shot Learning">
            <a:extLst>
              <a:ext uri="{FF2B5EF4-FFF2-40B4-BE49-F238E27FC236}">
                <a16:creationId xmlns:a16="http://schemas.microsoft.com/office/drawing/2014/main" id="{D2C5FF15-9CD5-BE63-6931-330C490D6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695" y="4387702"/>
            <a:ext cx="3863009" cy="217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99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29DC-056D-5CDC-7AC3-B4A8BE36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11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Slide 10: How AI Actually Works?</a:t>
            </a:r>
            <a:br>
              <a:rPr lang="en-US" b="1" dirty="0"/>
            </a:br>
            <a:r>
              <a:rPr lang="en-US" b="1" dirty="0"/>
              <a:t>AI Workflow:</a:t>
            </a:r>
            <a:br>
              <a:rPr lang="en-US" b="1" dirty="0"/>
            </a:br>
            <a:r>
              <a:rPr lang="en-US" dirty="0"/>
              <a:t>Data Input </a:t>
            </a:r>
            <a:br>
              <a:rPr lang="en-US" dirty="0"/>
            </a:br>
            <a:r>
              <a:rPr lang="en-US" dirty="0"/>
              <a:t>Processing </a:t>
            </a:r>
            <a:br>
              <a:rPr lang="en-US" dirty="0"/>
            </a:br>
            <a:r>
              <a:rPr lang="en-US" dirty="0"/>
              <a:t>Model Training </a:t>
            </a:r>
            <a:br>
              <a:rPr lang="en-US" dirty="0"/>
            </a:br>
            <a:r>
              <a:rPr lang="en-US" dirty="0"/>
              <a:t>Prediction </a:t>
            </a:r>
            <a:br>
              <a:rPr lang="en-US" dirty="0"/>
            </a:br>
            <a:r>
              <a:rPr lang="en-US" dirty="0"/>
              <a:t>Output </a:t>
            </a:r>
            <a:br>
              <a:rPr lang="en-US" dirty="0"/>
            </a:br>
            <a:endParaRPr lang="en-IN" dirty="0"/>
          </a:p>
        </p:txBody>
      </p:sp>
      <p:pic>
        <p:nvPicPr>
          <p:cNvPr id="7170" name="Picture 2" descr="Workflow of machine learning for effective data processing outline diagram">
            <a:extLst>
              <a:ext uri="{FF2B5EF4-FFF2-40B4-BE49-F238E27FC236}">
                <a16:creationId xmlns:a16="http://schemas.microsoft.com/office/drawing/2014/main" id="{9B30BE23-C2BC-397C-926B-7FBE2E6AF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878" y="1256414"/>
            <a:ext cx="2826025" cy="282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ustomer Churn with PyCaret">
            <a:extLst>
              <a:ext uri="{FF2B5EF4-FFF2-40B4-BE49-F238E27FC236}">
                <a16:creationId xmlns:a16="http://schemas.microsoft.com/office/drawing/2014/main" id="{FB7426A8-A6A9-F8D9-196B-B23B854D9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494" y="4082439"/>
            <a:ext cx="4238542" cy="243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72008052-D6C7-6DDF-9AFF-6AC566EDC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087" y="4256475"/>
            <a:ext cx="1975817" cy="2504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985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4742-F337-7C98-0F5F-3A8E7CDC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17" y="1500808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Slide 11: Machine Learning Basics</a:t>
            </a:r>
            <a:br>
              <a:rPr lang="en-US" sz="3200" b="1" dirty="0"/>
            </a:br>
            <a:r>
              <a:rPr lang="en-US" sz="3200" dirty="0"/>
              <a:t>AI ⟶ ML ⟶ Deep Learning </a:t>
            </a:r>
            <a:br>
              <a:rPr lang="en-US" sz="3200" dirty="0"/>
            </a:br>
            <a:r>
              <a:rPr lang="en-US" sz="3200" dirty="0"/>
              <a:t>Types:</a:t>
            </a:r>
            <a:br>
              <a:rPr lang="en-US" sz="3200" dirty="0"/>
            </a:br>
            <a:r>
              <a:rPr lang="en-US" sz="3200" dirty="0"/>
              <a:t>Supervised Learning </a:t>
            </a:r>
            <a:br>
              <a:rPr lang="en-US" sz="3200" dirty="0"/>
            </a:br>
            <a:r>
              <a:rPr lang="en-US" sz="3200" dirty="0"/>
              <a:t>Unsupervised Learning </a:t>
            </a:r>
            <a:br>
              <a:rPr lang="en-US" sz="3200" dirty="0"/>
            </a:br>
            <a:r>
              <a:rPr lang="en-US" sz="3200" dirty="0"/>
              <a:t>Reinforcement Learning </a:t>
            </a:r>
            <a:br>
              <a:rPr lang="en-US" sz="3200" dirty="0"/>
            </a:br>
            <a:r>
              <a:rPr lang="en-US" sz="3200" b="1" dirty="0"/>
              <a:t>Deep Learning mimics human brain using neural networks”</a:t>
            </a:r>
            <a:br>
              <a:rPr lang="en-US" sz="3200" b="1" dirty="0"/>
            </a:br>
            <a:br>
              <a:rPr lang="en-US" sz="3200" dirty="0"/>
            </a:br>
            <a:br>
              <a:rPr lang="en-US" sz="3200" dirty="0"/>
            </a:br>
            <a:endParaRPr lang="en-IN" sz="3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C6C2FA-1593-A425-F2BA-B9988962B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53" y="3287791"/>
            <a:ext cx="773000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Machines learn from data without explicit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algorithms to identify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performance over time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200" dirty="0"/>
              <a:t>Machine Learning turns data into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intelligent decisions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dirty="0"/>
          </a:p>
        </p:txBody>
      </p:sp>
      <p:pic>
        <p:nvPicPr>
          <p:cNvPr id="8196" name="Picture 4" descr="Develop A Machine Learning Model From Scratch In 2023">
            <a:extLst>
              <a:ext uri="{FF2B5EF4-FFF2-40B4-BE49-F238E27FC236}">
                <a16:creationId xmlns:a16="http://schemas.microsoft.com/office/drawing/2014/main" id="{118D3FEF-C135-F64C-E79C-7C24CE529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470" y="1313252"/>
            <a:ext cx="3575565" cy="238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arness AI for microscopy image analysis in pharma and biotech research">
            <a:extLst>
              <a:ext uri="{FF2B5EF4-FFF2-40B4-BE49-F238E27FC236}">
                <a16:creationId xmlns:a16="http://schemas.microsoft.com/office/drawing/2014/main" id="{E32A4EEB-15D1-3040-04C3-2A56D3C18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469" y="4144558"/>
            <a:ext cx="3575565" cy="238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830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8D2E-B623-F635-2C61-E7AD94F3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32" y="1440500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Slide 12: AI in Visualization</a:t>
            </a:r>
            <a:br>
              <a:rPr lang="en-US" sz="3600" b="1" dirty="0"/>
            </a:br>
            <a:r>
              <a:rPr lang="en-US" sz="3600" dirty="0"/>
              <a:t>Auto chart generation </a:t>
            </a:r>
            <a:br>
              <a:rPr lang="en-US" sz="3600" dirty="0"/>
            </a:br>
            <a:r>
              <a:rPr lang="en-US" sz="3600" dirty="0"/>
              <a:t>Smart dashboards </a:t>
            </a:r>
            <a:br>
              <a:rPr lang="en-US" sz="3600" dirty="0"/>
            </a:br>
            <a:r>
              <a:rPr lang="en-US" sz="3600" dirty="0"/>
              <a:t>Natural language → charts </a:t>
            </a:r>
            <a:br>
              <a:rPr lang="en-US" sz="3600" dirty="0"/>
            </a:br>
            <a:r>
              <a:rPr lang="en-US" sz="3600" dirty="0"/>
              <a:t>Example:</a:t>
            </a:r>
            <a:br>
              <a:rPr lang="en-US" sz="3600" dirty="0"/>
            </a:br>
            <a:r>
              <a:rPr lang="en-US" sz="3600" dirty="0"/>
              <a:t>👉 “Show revenue by region” → AI builds graph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B08C05-C27F-ED48-C1C1-A23A9F871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052" y="3237038"/>
            <a:ext cx="6622326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selects best chart type automatically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interactive dashboards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handle large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business intelligence tools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human effort &amp; errors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AI makes data visualization faster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  smarter, and interactive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9" name="Picture 3" descr="Revolutionary AI-Powered Spreadsheet Platforms Transforming Data Analysis Workflows">
            <a:extLst>
              <a:ext uri="{FF2B5EF4-FFF2-40B4-BE49-F238E27FC236}">
                <a16:creationId xmlns:a16="http://schemas.microsoft.com/office/drawing/2014/main" id="{9755CD93-63BD-D510-2B06-F5DC75CB8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921" y="593926"/>
            <a:ext cx="3924300" cy="202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1" name="Picture 5" descr="Context-Aware Knowledge Graph Chatbot With GPT-4 and Neo4j">
            <a:extLst>
              <a:ext uri="{FF2B5EF4-FFF2-40B4-BE49-F238E27FC236}">
                <a16:creationId xmlns:a16="http://schemas.microsoft.com/office/drawing/2014/main" id="{E1B1361D-30F6-901E-9E8D-200E50EF5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877" y="4016970"/>
            <a:ext cx="4445356" cy="245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72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B3A6-443E-DE43-9050-AF903660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06" y="2448597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🚀 Slide 13: Real-World Use Cases</a:t>
            </a:r>
            <a:br>
              <a:rPr lang="en-US" sz="3200" b="1" dirty="0"/>
            </a:br>
            <a:r>
              <a:rPr lang="en-US" sz="3200" dirty="0"/>
              <a:t>Business Analytics </a:t>
            </a:r>
            <a:br>
              <a:rPr lang="en-US" sz="3200" dirty="0"/>
            </a:br>
            <a:r>
              <a:rPr lang="en-US" sz="3200" dirty="0"/>
              <a:t>Healthcare predictions </a:t>
            </a:r>
            <a:br>
              <a:rPr lang="en-US" sz="3200" dirty="0"/>
            </a:br>
            <a:r>
              <a:rPr lang="en-US" sz="3200" dirty="0"/>
              <a:t>Stock market analysis </a:t>
            </a:r>
            <a:br>
              <a:rPr lang="en-US" sz="3200" dirty="0"/>
            </a:br>
            <a:r>
              <a:rPr lang="en-US" sz="3200" dirty="0"/>
              <a:t>Customer behavior tracking </a:t>
            </a:r>
            <a:br>
              <a:rPr lang="en-US" sz="3200" dirty="0"/>
            </a:br>
            <a:r>
              <a:rPr lang="en-US" sz="3200" dirty="0"/>
              <a:t>Fraud detection</a:t>
            </a:r>
            <a:br>
              <a:rPr lang="en-US" sz="3200" dirty="0"/>
            </a:br>
            <a:r>
              <a:rPr lang="en-US" sz="3200" b="1" dirty="0"/>
              <a:t>🏥 Healthcare Predictions</a:t>
            </a:r>
            <a:br>
              <a:rPr lang="en-US" sz="3200" b="1" dirty="0"/>
            </a:br>
            <a:r>
              <a:rPr lang="en-US" sz="3200" dirty="0"/>
              <a:t>Disease detection (early diagnosis) </a:t>
            </a:r>
            <a:br>
              <a:rPr lang="en-US" sz="3200" dirty="0"/>
            </a:br>
            <a:r>
              <a:rPr lang="en-US" sz="3200" dirty="0"/>
              <a:t>Patient data analysis </a:t>
            </a:r>
            <a:br>
              <a:rPr lang="en-US" sz="3200" dirty="0"/>
            </a:br>
            <a:r>
              <a:rPr lang="en-US" sz="3200" dirty="0"/>
              <a:t>AI-based medical imaging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2D43E05-34A2-2DCB-F286-823903055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58" y="52876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🚗 Self-driving cars (AI decision making)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🎤 Voice assistants (Siri, Alexa)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Chatbots &amp; virtual assistants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Supply chain optimization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Predictive maintenance (machines fail hone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pehle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🛒 E-commerce dynamic pricing </a:t>
            </a:r>
          </a:p>
        </p:txBody>
      </p:sp>
      <p:pic>
        <p:nvPicPr>
          <p:cNvPr id="10243" name="Picture 3" descr="8 Helpful Everyday Examples of Artificial Intelligence (AI)">
            <a:extLst>
              <a:ext uri="{FF2B5EF4-FFF2-40B4-BE49-F238E27FC236}">
                <a16:creationId xmlns:a16="http://schemas.microsoft.com/office/drawing/2014/main" id="{C829619A-E4EE-D5ED-27AD-FA91A17BA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273" y="897841"/>
            <a:ext cx="4211324" cy="279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Picture 5" descr="Illustration of artificial intelligence images spread across various industries, vector">
            <a:extLst>
              <a:ext uri="{FF2B5EF4-FFF2-40B4-BE49-F238E27FC236}">
                <a16:creationId xmlns:a16="http://schemas.microsoft.com/office/drawing/2014/main" id="{FE173113-C79A-EF25-EAC7-B6384D7E3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209" y="3938819"/>
            <a:ext cx="4214388" cy="260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036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AD42-5BD4-0E98-2CF5-A1C6C175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37" y="2728735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🚀 Slide 14: Live Demo </a:t>
            </a:r>
            <a:br>
              <a:rPr lang="en-US" sz="3200" b="1" dirty="0"/>
            </a:br>
            <a:r>
              <a:rPr lang="en-US" sz="3200" b="1" dirty="0"/>
              <a:t>🎬 Objective of Demo</a:t>
            </a:r>
            <a:br>
              <a:rPr lang="en-US" sz="3200" b="1" dirty="0"/>
            </a:br>
            <a:r>
              <a:rPr lang="en-US" sz="3200" dirty="0"/>
              <a:t>Show how AI works in real-time </a:t>
            </a:r>
            <a:br>
              <a:rPr lang="en-US" sz="3200" dirty="0"/>
            </a:br>
            <a:r>
              <a:rPr lang="en-US" sz="3200" dirty="0"/>
              <a:t>Convert data → insights → visualization </a:t>
            </a:r>
            <a:br>
              <a:rPr lang="en-US" sz="3200" dirty="0"/>
            </a:br>
            <a:r>
              <a:rPr lang="en-US" sz="3200" dirty="0"/>
              <a:t>Demonstrate power of prompt engineering</a:t>
            </a:r>
            <a:br>
              <a:rPr lang="en-US" sz="3200" dirty="0"/>
            </a:br>
            <a:r>
              <a:rPr lang="en-IN" sz="2800" b="1" dirty="0"/>
              <a:t>🧪 Demo 1: Data → Visualization</a:t>
            </a:r>
            <a:br>
              <a:rPr lang="en-IN" sz="2800" b="1" dirty="0"/>
            </a:br>
            <a:r>
              <a:rPr lang="en-IN" sz="2800" dirty="0"/>
              <a:t>👉 Steps:</a:t>
            </a:r>
            <a:br>
              <a:rPr lang="en-IN" sz="2800" dirty="0"/>
            </a:br>
            <a:r>
              <a:rPr lang="en-IN" sz="2800" dirty="0"/>
              <a:t>Upload CSV dataset </a:t>
            </a:r>
            <a:br>
              <a:rPr lang="en-IN" sz="2800" dirty="0"/>
            </a:br>
            <a:r>
              <a:rPr lang="en-IN" sz="2800" dirty="0"/>
              <a:t>Ask AI:</a:t>
            </a:r>
            <a:br>
              <a:rPr lang="en-IN" sz="2800" dirty="0"/>
            </a:br>
            <a:r>
              <a:rPr lang="en-IN" sz="2800" b="1" dirty="0"/>
              <a:t>“Create visualization and provide insights”</a:t>
            </a:r>
            <a:r>
              <a:rPr lang="en-IN" sz="2800" dirty="0"/>
              <a:t> </a:t>
            </a:r>
            <a:br>
              <a:rPr lang="en-IN" sz="2800" dirty="0"/>
            </a:br>
            <a:r>
              <a:rPr lang="en-IN" sz="2800" dirty="0"/>
              <a:t>👉 Output:</a:t>
            </a:r>
            <a:br>
              <a:rPr lang="en-IN" sz="2800" dirty="0"/>
            </a:br>
            <a:r>
              <a:rPr lang="en-IN" sz="2800" dirty="0"/>
              <a:t>Graph generated </a:t>
            </a:r>
            <a:br>
              <a:rPr lang="en-IN" sz="2800" dirty="0"/>
            </a:br>
            <a:r>
              <a:rPr lang="en-IN" sz="2800" dirty="0"/>
              <a:t>Trends highlighted </a:t>
            </a:r>
            <a:br>
              <a:rPr lang="en-IN" sz="2800" dirty="0"/>
            </a:br>
            <a:r>
              <a:rPr lang="en-IN" sz="2800" dirty="0"/>
              <a:t>Summary insights</a:t>
            </a:r>
            <a:br>
              <a:rPr lang="en-IN" sz="2800" dirty="0"/>
            </a:br>
            <a:br>
              <a:rPr lang="en-US" sz="3200" dirty="0"/>
            </a:br>
            <a:endParaRPr lang="en-IN" sz="3200" dirty="0"/>
          </a:p>
        </p:txBody>
      </p:sp>
      <p:pic>
        <p:nvPicPr>
          <p:cNvPr id="11266" name="Picture 2" descr="AI Pipeline Optimization on Xeon® Processors | Intel®">
            <a:extLst>
              <a:ext uri="{FF2B5EF4-FFF2-40B4-BE49-F238E27FC236}">
                <a16:creationId xmlns:a16="http://schemas.microsoft.com/office/drawing/2014/main" id="{46E02325-9032-2A21-E749-BFEF8AAA1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864" y="4204252"/>
            <a:ext cx="3737214" cy="1138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GritAI Studio | Getting Started with ChatGPT">
            <a:extLst>
              <a:ext uri="{FF2B5EF4-FFF2-40B4-BE49-F238E27FC236}">
                <a16:creationId xmlns:a16="http://schemas.microsoft.com/office/drawing/2014/main" id="{A0A0BFFB-33C4-A6EA-A4BA-735EE533D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42" y="983974"/>
            <a:ext cx="4924680" cy="166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Maximize Your Data Impact with ChatGPT's 32 Graph Types">
            <a:extLst>
              <a:ext uri="{FF2B5EF4-FFF2-40B4-BE49-F238E27FC236}">
                <a16:creationId xmlns:a16="http://schemas.microsoft.com/office/drawing/2014/main" id="{8A007AF0-C8D8-223C-16F6-9FA3262DC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129" y="4671391"/>
            <a:ext cx="2899741" cy="1938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064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765C4-EA8F-D50C-3F08-A0F48BA5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27" y="2312585"/>
            <a:ext cx="8659288" cy="89452"/>
          </a:xfrm>
        </p:spPr>
        <p:txBody>
          <a:bodyPr>
            <a:normAutofit fontScale="90000"/>
          </a:bodyPr>
          <a:lstStyle/>
          <a:p>
            <a:r>
              <a:rPr lang="en-US" sz="3300" b="1" dirty="0"/>
              <a:t>⚠️ Slide 15: Limitations of AI </a:t>
            </a:r>
            <a:br>
              <a:rPr lang="en-US" sz="2800" b="1" dirty="0"/>
            </a:br>
            <a:r>
              <a:rPr lang="en-US" sz="2800" b="1" dirty="0"/>
              <a:t>🧠 Why AI is Not Perfect</a:t>
            </a:r>
            <a:br>
              <a:rPr lang="en-US" sz="2800" b="1" dirty="0"/>
            </a:br>
            <a:r>
              <a:rPr lang="en-US" sz="2800" dirty="0"/>
              <a:t>AI powerful </a:t>
            </a:r>
            <a:r>
              <a:rPr lang="en-US" sz="2800" dirty="0" err="1"/>
              <a:t>hai</a:t>
            </a:r>
            <a:r>
              <a:rPr lang="en-US" sz="2800" dirty="0"/>
              <a:t>, but not 100% reliable </a:t>
            </a:r>
            <a:br>
              <a:rPr lang="en-US" sz="2800" dirty="0"/>
            </a:br>
            <a:r>
              <a:rPr lang="en-US" sz="2800" dirty="0"/>
              <a:t>Human supervision is still required 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dirty="0"/>
              <a:t>🚫 Key Limitations</a:t>
            </a:r>
            <a:br>
              <a:rPr lang="en-US" sz="2800" b="1" dirty="0"/>
            </a:br>
            <a:r>
              <a:rPr lang="en-US" sz="2800" b="1" dirty="0"/>
              <a:t>📊 Data Bias</a:t>
            </a:r>
            <a:br>
              <a:rPr lang="en-US" sz="2800" b="1" dirty="0"/>
            </a:br>
            <a:r>
              <a:rPr lang="en-US" sz="2800" dirty="0"/>
              <a:t>AI depends on training data </a:t>
            </a:r>
            <a:br>
              <a:rPr lang="en-US" sz="2800" dirty="0"/>
            </a:br>
            <a:r>
              <a:rPr lang="en-US" sz="2800" dirty="0"/>
              <a:t>Biased data → biased result</a:t>
            </a:r>
            <a:br>
              <a:rPr lang="en-US" sz="2800" dirty="0"/>
            </a:br>
            <a:br>
              <a:rPr lang="en-US" sz="2800" dirty="0"/>
            </a:br>
            <a:endParaRPr lang="en-IN" sz="28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8BB767A-56CB-5B1B-DAD1-BF031C949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27" y="3801935"/>
            <a:ext cx="538160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🔒 Privacy &amp; data security issues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💸 High computational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🧩 Lack of transparency (black-box models)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Overfitting / underfitting problems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🌍 Ethical concerns (misuse of AI)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Requires continuous training &amp; updates </a:t>
            </a:r>
          </a:p>
        </p:txBody>
      </p:sp>
      <p:pic>
        <p:nvPicPr>
          <p:cNvPr id="12293" name="Picture 5" descr="Challenges and Ethical Concerns in AI-Driven Personalization  Privacy, Bias, Over-Personalization, and Technical Complexity. Editable Stroke.">
            <a:extLst>
              <a:ext uri="{FF2B5EF4-FFF2-40B4-BE49-F238E27FC236}">
                <a16:creationId xmlns:a16="http://schemas.microsoft.com/office/drawing/2014/main" id="{E820CCEB-85C9-DCCC-9C6D-B0B217BE5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296" y="768787"/>
            <a:ext cx="3972338" cy="205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5" name="Picture 7" descr="Day 6: Why AI Makes Mistakes (And How Tiny Changes Can Fool It) | by Kavya Dodle | Medium">
            <a:extLst>
              <a:ext uri="{FF2B5EF4-FFF2-40B4-BE49-F238E27FC236}">
                <a16:creationId xmlns:a16="http://schemas.microsoft.com/office/drawing/2014/main" id="{7CEDC61C-4997-8561-AD4C-4010469C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751" y="3931144"/>
            <a:ext cx="3712265" cy="247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8668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8DA6-760D-5CD2-832D-3943F08A9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4" y="2102613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US" sz="3300" b="1" dirty="0"/>
              <a:t>🔐 Slide 16: Future of AI in Data Analysis </a:t>
            </a:r>
            <a:br>
              <a:rPr lang="en-US" sz="2800" b="1" dirty="0"/>
            </a:br>
            <a:r>
              <a:rPr lang="en-US" sz="2800" b="1" dirty="0"/>
              <a:t>🧠 Future Vision</a:t>
            </a:r>
            <a:br>
              <a:rPr lang="en-US" sz="2800" b="1" dirty="0"/>
            </a:br>
            <a:r>
              <a:rPr lang="en-US" sz="2800" dirty="0"/>
              <a:t>AI will make data analysis fully automated </a:t>
            </a:r>
            <a:br>
              <a:rPr lang="en-US" sz="2800" dirty="0"/>
            </a:br>
            <a:r>
              <a:rPr lang="en-US" sz="2800" dirty="0"/>
              <a:t>Human effort will reduce, speed will increase </a:t>
            </a:r>
            <a:br>
              <a:rPr lang="en-US" sz="2800" dirty="0"/>
            </a:br>
            <a:r>
              <a:rPr lang="en-US" sz="2800" dirty="0"/>
              <a:t>Decisions will be faster &amp; smarter</a:t>
            </a:r>
            <a:br>
              <a:rPr lang="en-US" sz="2800" dirty="0"/>
            </a:br>
            <a:r>
              <a:rPr lang="en-IN" sz="2400" b="1" dirty="0"/>
              <a:t>🚀 Key Trends</a:t>
            </a:r>
            <a:br>
              <a:rPr lang="en-IN" sz="2400" b="1" dirty="0"/>
            </a:br>
            <a:r>
              <a:rPr lang="en-IN" sz="2400" dirty="0"/>
              <a:t>🤖 Fully automated analytics </a:t>
            </a:r>
            <a:br>
              <a:rPr lang="en-IN" sz="2400" dirty="0"/>
            </a:br>
            <a:r>
              <a:rPr lang="en-IN" sz="2400" dirty="0"/>
              <a:t>📊 AI-powered dashboards </a:t>
            </a:r>
            <a:br>
              <a:rPr lang="en-IN" sz="2400" dirty="0"/>
            </a:br>
            <a:r>
              <a:rPr lang="en-IN" sz="2400" dirty="0"/>
              <a:t>🎤 Voice-based analytics (ask → get insights) </a:t>
            </a:r>
            <a:br>
              <a:rPr lang="en-IN" sz="2400" dirty="0"/>
            </a:br>
            <a:r>
              <a:rPr lang="en-IN" sz="2400" dirty="0"/>
              <a:t>⚡ Real-time decision systems </a:t>
            </a:r>
            <a:br>
              <a:rPr lang="en-IN" sz="2400" dirty="0"/>
            </a:br>
            <a:r>
              <a:rPr lang="en-IN" sz="2400" dirty="0"/>
              <a:t>🔄 Continuous learning systems (self-improving AI)</a:t>
            </a:r>
            <a:br>
              <a:rPr lang="en-IN" dirty="0"/>
            </a:br>
            <a:br>
              <a:rPr lang="en-US" sz="3200" dirty="0"/>
            </a:br>
            <a:r>
              <a:rPr lang="en-US" sz="3200" dirty="0"/>
              <a:t>.Future of data analysis is AI-driven and autonomous</a:t>
            </a:r>
            <a:endParaRPr lang="en-IN" sz="3200" dirty="0"/>
          </a:p>
        </p:txBody>
      </p:sp>
      <p:pic>
        <p:nvPicPr>
          <p:cNvPr id="13314" name="Picture 2" descr="Artificial intelligence analytics interface with businessman presenting AI data dashboard, machine learning automation, digital transformation, big data visualization and smart technology strategy">
            <a:extLst>
              <a:ext uri="{FF2B5EF4-FFF2-40B4-BE49-F238E27FC236}">
                <a16:creationId xmlns:a16="http://schemas.microsoft.com/office/drawing/2014/main" id="{EEB174CB-F659-130D-FC79-F733F134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322" y="4454911"/>
            <a:ext cx="3592988" cy="224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Analytics, AI Artificial intelligence working with humans, automation to help you succeed">
            <a:extLst>
              <a:ext uri="{FF2B5EF4-FFF2-40B4-BE49-F238E27FC236}">
                <a16:creationId xmlns:a16="http://schemas.microsoft.com/office/drawing/2014/main" id="{7C273DB0-3663-703D-C973-497AF7983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957" y="1418991"/>
            <a:ext cx="3163717" cy="237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079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7022-3827-2C1E-6DF9-28197473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75" y="2594113"/>
            <a:ext cx="9404723" cy="1400530"/>
          </a:xfrm>
        </p:spPr>
        <p:txBody>
          <a:bodyPr>
            <a:normAutofit fontScale="90000"/>
          </a:bodyPr>
          <a:lstStyle/>
          <a:p>
            <a:r>
              <a:rPr lang="en-IN" sz="3300" b="1" dirty="0"/>
              <a:t>🏁 Slide 17: Conclusion</a:t>
            </a:r>
            <a:br>
              <a:rPr lang="en-IN" sz="2400" b="1" dirty="0"/>
            </a:br>
            <a:r>
              <a:rPr lang="en-IN" sz="2400" b="1" dirty="0"/>
              <a:t>🎯 Key Takeaways</a:t>
            </a:r>
            <a:br>
              <a:rPr lang="en-IN" sz="2400" b="1" dirty="0"/>
            </a:br>
            <a:r>
              <a:rPr lang="en-IN" sz="2400" dirty="0"/>
              <a:t>🤖 AI makes data analysis </a:t>
            </a:r>
            <a:r>
              <a:rPr lang="en-IN" sz="2400" b="1" dirty="0"/>
              <a:t>faster, smarter, and scalable</a:t>
            </a:r>
            <a:r>
              <a:rPr lang="en-IN" sz="2400" dirty="0"/>
              <a:t> </a:t>
            </a:r>
            <a:br>
              <a:rPr lang="en-IN" sz="2400" dirty="0"/>
            </a:br>
            <a:r>
              <a:rPr lang="en-IN" sz="2400" dirty="0"/>
              <a:t>🧠 Prompt engineering is a </a:t>
            </a:r>
            <a:r>
              <a:rPr lang="en-IN" sz="2400" b="1" dirty="0"/>
              <a:t>critical skill for controlling AI output</a:t>
            </a:r>
            <a:r>
              <a:rPr lang="en-IN" sz="2400" dirty="0"/>
              <a:t> </a:t>
            </a:r>
            <a:br>
              <a:rPr lang="en-IN" sz="2400" dirty="0"/>
            </a:br>
            <a:r>
              <a:rPr lang="en-IN" sz="2400" dirty="0"/>
              <a:t>📊 Data visualization transforms data into </a:t>
            </a:r>
            <a:r>
              <a:rPr lang="en-IN" sz="2400" b="1" dirty="0"/>
              <a:t>clear insights</a:t>
            </a:r>
            <a:r>
              <a:rPr lang="en-IN" sz="2400" dirty="0"/>
              <a:t> 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⚡ AI enables </a:t>
            </a:r>
            <a:r>
              <a:rPr lang="en-IN" sz="2400" b="1" dirty="0"/>
              <a:t>real-time, data-driven decision making</a:t>
            </a:r>
            <a:br>
              <a:rPr lang="en-IN" sz="2400" dirty="0"/>
            </a:br>
            <a:br>
              <a:rPr lang="en-IN" sz="2400" dirty="0"/>
            </a:br>
            <a:r>
              <a:rPr lang="en-US" sz="2400" dirty="0"/>
              <a:t>👉 </a:t>
            </a:r>
            <a:r>
              <a:rPr lang="en-US" sz="2400" b="1" dirty="0"/>
              <a:t>“Data is the new oil, and AI is the engine that </a:t>
            </a:r>
            <a:br>
              <a:rPr lang="en-US" sz="2400" b="1" dirty="0"/>
            </a:br>
            <a:r>
              <a:rPr lang="en-US" sz="2400" b="1" dirty="0"/>
              <a:t>       drives it”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👉 </a:t>
            </a:r>
            <a:r>
              <a:rPr lang="en-US" sz="2400" b="1" dirty="0"/>
              <a:t>“The future belongs to those who can understand</a:t>
            </a:r>
            <a:br>
              <a:rPr lang="en-US" sz="2400" b="1" dirty="0"/>
            </a:br>
            <a:r>
              <a:rPr lang="en-US" sz="2400" b="1" dirty="0"/>
              <a:t>        and use AI effectively”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dirty="0"/>
              <a:t>👉 </a:t>
            </a:r>
            <a:r>
              <a:rPr lang="en-US" sz="2400" b="1" dirty="0"/>
              <a:t>“AI is not just a tool — it is the future of intelligent</a:t>
            </a:r>
            <a:br>
              <a:rPr lang="en-US" sz="2400" b="1" dirty="0"/>
            </a:br>
            <a:r>
              <a:rPr lang="en-US" sz="2400" b="1" dirty="0"/>
              <a:t>      decision making”</a:t>
            </a:r>
            <a:br>
              <a:rPr lang="en-US" sz="2400" dirty="0"/>
            </a:br>
            <a:endParaRPr lang="en-IN" sz="2400" dirty="0"/>
          </a:p>
        </p:txBody>
      </p:sp>
      <p:pic>
        <p:nvPicPr>
          <p:cNvPr id="14338" name="Picture 2" descr="AI Artificial Intelligence and Machine Learning Concept, Big data innovation technology">
            <a:extLst>
              <a:ext uri="{FF2B5EF4-FFF2-40B4-BE49-F238E27FC236}">
                <a16:creationId xmlns:a16="http://schemas.microsoft.com/office/drawing/2014/main" id="{DF5AB88E-33A0-2010-AE64-3E444671D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359" y="3061252"/>
            <a:ext cx="3874466" cy="258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41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1017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type:- Data Analysis &amp; Visualization with AI</vt:lpstr>
      <vt:lpstr>1: Introduction:- What is AI in Data Analysis? AI = Systems that learn patterns from data  Used to:  Analyze large datasets  Predict trends  Automate insights  Traditional vs AI:  Manual analysis  Automated intelligent analysis ✅ </vt:lpstr>
      <vt:lpstr>2: What is Data Analysis? Process of extracting useful information from data  Types:  Descriptive → What happened?  Diagnostic → Why happened?  Predictive → What will happen?  Prescriptive → What should we do?  </vt:lpstr>
      <vt:lpstr>3: Data Visualization Presenting data in visual format:  Charts  Graphs  Dashboards  Why important? Easy understanding  Better decision-making  Pattern recognition </vt:lpstr>
      <vt:lpstr>Slide 4: Where AI is Used in Data Analysis? Auto data cleaning  Pattern detection  Forecasting  Anomaly detection  Natural Language Queries  👉 Example: “Show sales growth of last 5 years” → AI generates graph instantly  </vt:lpstr>
      <vt:lpstr>Slide 5: Popular AI Tools for Data Analysis Python (Pandas, NumPy)  Power BI + AI features  Tableau + AI insights  Excel AI tools  Google AutoML  ChatGPT (for analysis &amp; code)  </vt:lpstr>
      <vt:lpstr>Slide 6: Tool Demonstration (Important for you) Example: Using AI (ChatGPT) Prompt: “Analyze this dataset and create a sales trend graph” Output: Python code generated  Graph visualization  Insights automatically  👉 You can DEMO: Upload CSV  Ask AI → get chart + explanation </vt:lpstr>
      <vt:lpstr>Slide 7: What is Prompt Engineering? 🧠 Definition Designing input (prompt) to get accurate &amp; meaningful AI output  AI works better with clear and structured instructions  Quality of output depends on quality of prompt  </vt:lpstr>
      <vt:lpstr>Slide 8: Types of Prompts Zero-shot → No example  Few-shot → With examples  Chain-of-thought → Step-by-step reasoning  Chain-of-Thought Prompting Step-by-step reasoning  Best for complex problems  Improves accuracy &amp; logic Prompting controls AI behavior  More context = better results  Used in real AI systems &amp; chatbots  Important skill for data scientists  </vt:lpstr>
      <vt:lpstr>Slide 10: How AI Actually Works? AI Workflow: Data Input  Processing  Model Training  Prediction  Output  </vt:lpstr>
      <vt:lpstr>Slide 11: Machine Learning Basics AI ⟶ ML ⟶ Deep Learning  Types: Supervised Learning  Unsupervised Learning  Reinforcement Learning  Deep Learning mimics human brain using neural networks”   </vt:lpstr>
      <vt:lpstr>Slide 12: AI in Visualization Auto chart generation  Smart dashboards  Natural language → charts  Example: 👉 “Show revenue by region” → AI builds graph </vt:lpstr>
      <vt:lpstr>🚀 Slide 13: Real-World Use Cases Business Analytics  Healthcare predictions  Stock market analysis  Customer behavior tracking  Fraud detection 🏥 Healthcare Predictions Disease detection (early diagnosis)  Patient data analysis  AI-based medical imaging     </vt:lpstr>
      <vt:lpstr>🚀 Slide 14: Live Demo  🎬 Objective of Demo Show how AI works in real-time  Convert data → insights → visualization  Demonstrate power of prompt engineering 🧪 Demo 1: Data → Visualization 👉 Steps: Upload CSV dataset  Ask AI: “Create visualization and provide insights”  👉 Output: Graph generated  Trends highlighted  Summary insights  </vt:lpstr>
      <vt:lpstr>⚠️ Slide 15: Limitations of AI  🧠 Why AI is Not Perfect AI powerful hai, but not 100% reliable  Human supervision is still required   🚫 Key Limitations 📊 Data Bias AI depends on training data  Biased data → biased result  </vt:lpstr>
      <vt:lpstr>🔐 Slide 16: Future of AI in Data Analysis  🧠 Future Vision AI will make data analysis fully automated  Human effort will reduce, speed will increase  Decisions will be faster &amp; smarter 🚀 Key Trends 🤖 Fully automated analytics  📊 AI-powered dashboards  🎤 Voice-based analytics (ask → get insights)  ⚡ Real-time decision systems  🔄 Continuous learning systems (self-improving AI)  .Future of data analysis is AI-driven and autonomous</vt:lpstr>
      <vt:lpstr>🏁 Slide 17: Conclusion 🎯 Key Takeaways 🤖 AI makes data analysis faster, smarter, and scalable  🧠 Prompt engineering is a critical skill for controlling AI output  📊 Data visualization transforms data into clear insights   ⚡ AI enables real-time, data-driven decision making  👉 “Data is the new oil, and AI is the engine that         drives it”  👉 “The future belongs to those who can understand         and use AI effectively”  👉 “AI is not just a tool — it is the future of intelligent       decision making”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Lata Sonkusare</dc:creator>
  <cp:lastModifiedBy>Lata Sonkusare</cp:lastModifiedBy>
  <cp:revision>2</cp:revision>
  <dcterms:created xsi:type="dcterms:W3CDTF">2026-04-25T06:23:53Z</dcterms:created>
  <dcterms:modified xsi:type="dcterms:W3CDTF">2026-04-25T09:18:59Z</dcterms:modified>
</cp:coreProperties>
</file>